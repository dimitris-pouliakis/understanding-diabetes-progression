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337" r:id="rId4"/>
    <p:sldId id="259" r:id="rId5"/>
    <p:sldId id="335" r:id="rId6"/>
    <p:sldId id="348" r:id="rId7"/>
    <p:sldId id="360" r:id="rId8"/>
    <p:sldId id="356" r:id="rId9"/>
  </p:sldIdLst>
  <p:sldSz cx="12192000" cy="6858000"/>
  <p:notesSz cx="7559675" cy="10691813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A9B5A5-5039-9C62-88D9-92FA44CA191D}" v="12" dt="2026-03-16T11:09:26.1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l-G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l-G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l-G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l-G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l-GR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l-G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l-GR" sz="6000" b="0" strike="noStrike" spc="-1">
                <a:solidFill>
                  <a:srgbClr val="000000"/>
                </a:solidFill>
                <a:latin typeface="Arial"/>
                <a:ea typeface="DejaVu Sans"/>
              </a:rPr>
              <a:t>Κάντε κλικ για να επεξεργαστείτε τον τίτλο υποδείγματος</a:t>
            </a:r>
            <a:endParaRPr lang="el-GR" sz="6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fld id="{CB5FDC7C-53D5-4F8A-AA0A-CF125DE99BE0}" type="datetime">
              <a:rPr lang="el-G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26/10/2026</a:t>
            </a:fld>
            <a:endParaRPr lang="el-GR" sz="1800" b="0" strike="noStrike" spc="-1"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endParaRPr lang="el-GR" sz="2400" b="0" strike="noStrike" spc="-1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fld id="{BD523D86-113B-47E0-97AC-918272BF7400}" type="slidenum">
              <a:rPr lang="el-G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‹#›</a:t>
            </a:fld>
            <a:endParaRPr lang="el-GR" sz="1800" b="0" strike="noStrike" spc="-1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l-G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4.stat.ncsu.edu/~boos/var.select/diabetes.tab.tx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875D224E-41ED-4B98-7BA5-714DCB217F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0" name="CustomShape 1"/>
          <p:cNvSpPr/>
          <p:nvPr/>
        </p:nvSpPr>
        <p:spPr>
          <a:xfrm>
            <a:off x="803520" y="865800"/>
            <a:ext cx="10591200" cy="579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 algn="ctr"/>
            <a:r>
              <a:rPr lang="el-GR" sz="3200" b="0" strike="noStrike" spc="-1" dirty="0">
                <a:solidFill>
                  <a:srgbClr val="000000"/>
                </a:solidFill>
                <a:latin typeface="Tahoma"/>
                <a:ea typeface="Tahoma"/>
              </a:rPr>
              <a:t>«</a:t>
            </a:r>
            <a:r>
              <a:rPr lang="en-US" sz="3200" b="0" strike="noStrike" spc="-1" dirty="0">
                <a:solidFill>
                  <a:srgbClr val="000000"/>
                </a:solidFill>
                <a:latin typeface="Tahoma"/>
                <a:ea typeface="Tahoma"/>
              </a:rPr>
              <a:t>Understanding Diabetes Progression</a:t>
            </a:r>
            <a:r>
              <a:rPr lang="el-GR" sz="3200" b="0" strike="noStrike" spc="-1" dirty="0">
                <a:solidFill>
                  <a:srgbClr val="000000"/>
                </a:solidFill>
                <a:latin typeface="Tahoma"/>
                <a:ea typeface="Tahoma"/>
              </a:rPr>
              <a:t>»</a:t>
            </a:r>
            <a:endParaRPr lang="el-GR" sz="3200" b="0" strike="noStrike" spc="-1" dirty="0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3261856" y="2795063"/>
            <a:ext cx="5203004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 dirty="0">
                <a:solidFill>
                  <a:srgbClr val="000000"/>
                </a:solidFill>
                <a:latin typeface="Tahoma"/>
                <a:ea typeface="Tahoma"/>
              </a:rPr>
              <a:t>Data Analytics and Statistics Seminar</a:t>
            </a:r>
            <a:endParaRPr lang="el-GR" sz="2400" b="0" strike="noStrike" spc="-1" dirty="0">
              <a:latin typeface="Arial"/>
            </a:endParaRPr>
          </a:p>
        </p:txBody>
      </p:sp>
      <p:sp>
        <p:nvSpPr>
          <p:cNvPr id="82" name="CustomShape 3"/>
          <p:cNvSpPr/>
          <p:nvPr/>
        </p:nvSpPr>
        <p:spPr>
          <a:xfrm>
            <a:off x="2379577" y="3640946"/>
            <a:ext cx="7373565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 err="1">
                <a:solidFill>
                  <a:srgbClr val="000000"/>
                </a:solidFill>
                <a:latin typeface="Aptos"/>
                <a:ea typeface="DejaVu Sans"/>
              </a:rPr>
              <a:t>un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Aptos"/>
                <a:ea typeface="DejaVu Sans"/>
              </a:rPr>
              <a:t>L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ptos"/>
                <a:ea typeface="DejaVu Sans"/>
              </a:rPr>
              <a:t>ocking</a:t>
            </a:r>
            <a:r>
              <a:rPr lang="en-US" sz="2000" b="0" strike="noStrike" spc="-1" dirty="0">
                <a:solidFill>
                  <a:srgbClr val="000000"/>
                </a:solidFill>
                <a:latin typeface="Aptos"/>
                <a:ea typeface="DejaVu San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ptos"/>
                <a:ea typeface="DejaVu Sans"/>
              </a:rPr>
              <a:t>car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Aptos"/>
                <a:ea typeface="DejaVu Sans"/>
              </a:rPr>
              <a:t>E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ptos"/>
                <a:ea typeface="DejaVu Sans"/>
              </a:rPr>
              <a:t>er</a:t>
            </a:r>
            <a:r>
              <a:rPr lang="en-US" sz="2000" b="0" strike="noStrike" spc="-1" dirty="0">
                <a:solidFill>
                  <a:srgbClr val="000000"/>
                </a:solidFill>
                <a:latin typeface="Aptos"/>
                <a:ea typeface="DejaVu San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ptos"/>
                <a:ea typeface="DejaVu Sans"/>
              </a:rPr>
              <a:t>potenti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Aptos"/>
                <a:ea typeface="DejaVu Sans"/>
              </a:rPr>
              <a:t>A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ptos"/>
                <a:ea typeface="DejaVu Sans"/>
              </a:rPr>
              <a:t>l</a:t>
            </a:r>
            <a:r>
              <a:rPr lang="en-US" sz="2000" b="0" strike="noStrike" spc="-1" dirty="0">
                <a:solidFill>
                  <a:srgbClr val="000000"/>
                </a:solidFill>
                <a:latin typeface="Aptos"/>
                <a:ea typeface="DejaVu Sans"/>
              </a:rPr>
              <a:t> with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ptos"/>
                <a:ea typeface="DejaVu Sans"/>
              </a:rPr>
              <a:t>com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Aptos"/>
                <a:ea typeface="DejaVu Sans"/>
              </a:rPr>
              <a:t>P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ptos"/>
                <a:ea typeface="DejaVu Sans"/>
              </a:rPr>
              <a:t>lex</a:t>
            </a:r>
            <a:r>
              <a:rPr lang="en-US" sz="2000" b="0" strike="noStrike" spc="-1" dirty="0">
                <a:solidFill>
                  <a:srgbClr val="000000"/>
                </a:solidFill>
                <a:latin typeface="Aptos"/>
                <a:ea typeface="DejaVu Sans"/>
              </a:rPr>
              <a:t> systems, statistics, data analytics and machine learning</a:t>
            </a:r>
          </a:p>
          <a:p>
            <a:pPr algn="ctr">
              <a:lnSpc>
                <a:spcPct val="100000"/>
              </a:lnSpc>
            </a:pPr>
            <a:r>
              <a:rPr lang="en-US" sz="2000" spc="-1" dirty="0">
                <a:solidFill>
                  <a:srgbClr val="000000"/>
                </a:solidFill>
                <a:latin typeface="Aptos"/>
              </a:rPr>
              <a:t>(LEAP)</a:t>
            </a:r>
            <a:endParaRPr lang="el-GR" sz="2000" b="0" strike="noStrike" spc="-1" dirty="0">
              <a:latin typeface="Arial"/>
            </a:endParaRPr>
          </a:p>
        </p:txBody>
      </p:sp>
      <p:sp>
        <p:nvSpPr>
          <p:cNvPr id="83" name="CustomShape 4"/>
          <p:cNvSpPr/>
          <p:nvPr/>
        </p:nvSpPr>
        <p:spPr>
          <a:xfrm>
            <a:off x="4330546" y="1769157"/>
            <a:ext cx="3065624" cy="521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l-GR" sz="2800" b="0" strike="noStrike" spc="-1" dirty="0">
                <a:solidFill>
                  <a:srgbClr val="000000"/>
                </a:solidFill>
                <a:latin typeface="Aptos"/>
                <a:ea typeface="DejaVu Sans"/>
              </a:rPr>
              <a:t>Dimitrios Pouliakis</a:t>
            </a:r>
            <a:endParaRPr lang="el-GR" sz="2800" b="0" strike="noStrike" spc="-1" dirty="0">
              <a:latin typeface="Arial"/>
            </a:endParaRPr>
          </a:p>
        </p:txBody>
      </p:sp>
      <p:pic>
        <p:nvPicPr>
          <p:cNvPr id="84" name="Εικόνα 8" descr="Εικόνα που περιέχει τέχνη, κύκλος&#10;&#10;Το περιεχόμενο που δημιουργείται από τεχνολογία AI ενδέχεται να είναι εσφαλμένο."/>
          <p:cNvPicPr/>
          <p:nvPr/>
        </p:nvPicPr>
        <p:blipFill>
          <a:blip r:embed="rId3"/>
          <a:stretch/>
        </p:blipFill>
        <p:spPr>
          <a:xfrm>
            <a:off x="5467320" y="5010840"/>
            <a:ext cx="1198080" cy="1198080"/>
          </a:xfrm>
          <a:prstGeom prst="rect">
            <a:avLst/>
          </a:prstGeom>
          <a:ln>
            <a:noFill/>
          </a:ln>
        </p:spPr>
      </p:pic>
      <p:sp>
        <p:nvSpPr>
          <p:cNvPr id="87" name="CustomShape 5"/>
          <p:cNvSpPr/>
          <p:nvPr/>
        </p:nvSpPr>
        <p:spPr>
          <a:xfrm>
            <a:off x="1125000" y="6404400"/>
            <a:ext cx="5696239" cy="2616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u="sng" spc="-1" dirty="0">
                <a:solidFill>
                  <a:srgbClr val="467886"/>
                </a:solidFill>
                <a:ea typeface="Arial"/>
              </a:rPr>
              <a:t>https://www.bcbsm.mibluedaily.com/stories/prevention/how-to-choose-a-glucose-monitor</a:t>
            </a:r>
            <a:endParaRPr lang="el-GR" sz="1100" b="0" strike="noStrike" spc="-1" dirty="0">
              <a:latin typeface="Arial"/>
            </a:endParaRP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8B22FE5F-609A-5730-B98A-BAF5C0AFD8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597" y="5040827"/>
            <a:ext cx="1360011" cy="1183387"/>
          </a:xfrm>
          <a:prstGeom prst="rect">
            <a:avLst/>
          </a:prstGeom>
        </p:spPr>
      </p:pic>
      <p:pic>
        <p:nvPicPr>
          <p:cNvPr id="5" name="Εικόνα 4">
            <a:extLst>
              <a:ext uri="{FF2B5EF4-FFF2-40B4-BE49-F238E27FC236}">
                <a16:creationId xmlns:a16="http://schemas.microsoft.com/office/drawing/2014/main" id="{AD5D463D-4C11-797C-AA4B-113DE4AE43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45" y="5040827"/>
            <a:ext cx="1292943" cy="11205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D9DAE-3EEB-D3D5-3BF7-C701AEB93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Εικόνα 7">
            <a:extLst>
              <a:ext uri="{FF2B5EF4-FFF2-40B4-BE49-F238E27FC236}">
                <a16:creationId xmlns:a16="http://schemas.microsoft.com/office/drawing/2014/main" id="{CD614986-05AF-03DA-20ED-FBD91885DD7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9" name="CustomShape 3">
            <a:extLst>
              <a:ext uri="{FF2B5EF4-FFF2-40B4-BE49-F238E27FC236}">
                <a16:creationId xmlns:a16="http://schemas.microsoft.com/office/drawing/2014/main" id="{8D54F2F6-BD58-F94E-05C8-D5AFDC7269AF}"/>
              </a:ext>
            </a:extLst>
          </p:cNvPr>
          <p:cNvSpPr/>
          <p:nvPr/>
        </p:nvSpPr>
        <p:spPr>
          <a:xfrm>
            <a:off x="5180901" y="230549"/>
            <a:ext cx="1643535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3200" spc="-1" dirty="0">
                <a:solidFill>
                  <a:srgbClr val="000000"/>
                </a:solidFill>
                <a:latin typeface="Tahoma"/>
                <a:ea typeface="Tahoma"/>
              </a:rPr>
              <a:t>Dataset</a:t>
            </a:r>
            <a:endParaRPr lang="el-GR" sz="3200" b="0" strike="noStrike" spc="-1" dirty="0">
              <a:latin typeface="Tahoma"/>
              <a:ea typeface="Tahoma"/>
            </a:endParaRPr>
          </a:p>
        </p:txBody>
      </p:sp>
      <p:sp>
        <p:nvSpPr>
          <p:cNvPr id="70" name="CustomShape 4">
            <a:extLst>
              <a:ext uri="{FF2B5EF4-FFF2-40B4-BE49-F238E27FC236}">
                <a16:creationId xmlns:a16="http://schemas.microsoft.com/office/drawing/2014/main" id="{99A10953-B248-37C3-A712-2512C7B071E8}"/>
              </a:ext>
            </a:extLst>
          </p:cNvPr>
          <p:cNvSpPr/>
          <p:nvPr/>
        </p:nvSpPr>
        <p:spPr>
          <a:xfrm>
            <a:off x="10501560" y="6404400"/>
            <a:ext cx="307969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1440" tIns="45720" rIns="91440" bIns="4572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1" dirty="0">
                <a:latin typeface="Aptos"/>
              </a:rPr>
              <a:t>2</a:t>
            </a:r>
            <a:endParaRPr lang="el-GR" sz="1800" b="0" strike="noStrike" spc="-1" dirty="0">
              <a:latin typeface="Aptos"/>
            </a:endParaRPr>
          </a:p>
        </p:txBody>
      </p: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6F3418C2-7369-24F8-720A-B701C478B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98" y="1364840"/>
            <a:ext cx="7633530" cy="3172156"/>
          </a:xfrm>
          <a:prstGeom prst="rect">
            <a:avLst/>
          </a:prstGeom>
        </p:spPr>
      </p:pic>
      <p:cxnSp>
        <p:nvCxnSpPr>
          <p:cNvPr id="16" name="Ευθύγραμμο βέλος σύνδεσης 15">
            <a:extLst>
              <a:ext uri="{FF2B5EF4-FFF2-40B4-BE49-F238E27FC236}">
                <a16:creationId xmlns:a16="http://schemas.microsoft.com/office/drawing/2014/main" id="{58B44545-8D80-FEE0-2C64-BD668468352C}"/>
              </a:ext>
            </a:extLst>
          </p:cNvPr>
          <p:cNvCxnSpPr>
            <a:cxnSpLocks/>
          </p:cNvCxnSpPr>
          <p:nvPr/>
        </p:nvCxnSpPr>
        <p:spPr>
          <a:xfrm>
            <a:off x="6967099" y="2092866"/>
            <a:ext cx="1350991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stomShape 6">
            <a:extLst>
              <a:ext uri="{FF2B5EF4-FFF2-40B4-BE49-F238E27FC236}">
                <a16:creationId xmlns:a16="http://schemas.microsoft.com/office/drawing/2014/main" id="{BA221A7D-BDE0-9CF1-6C4A-37A107B4B217}"/>
              </a:ext>
            </a:extLst>
          </p:cNvPr>
          <p:cNvSpPr/>
          <p:nvPr/>
        </p:nvSpPr>
        <p:spPr>
          <a:xfrm>
            <a:off x="8276138" y="1935255"/>
            <a:ext cx="3640560" cy="23083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pc="-1" dirty="0">
                <a:latin typeface="Aptos"/>
              </a:rPr>
              <a:t>Small Dataset</a:t>
            </a:r>
          </a:p>
          <a:p>
            <a:endParaRPr lang="en-US" spc="-1" dirty="0">
              <a:latin typeface="Aptos"/>
            </a:endParaRPr>
          </a:p>
          <a:p>
            <a:r>
              <a:rPr lang="en-US" spc="-1" dirty="0">
                <a:latin typeface="Aptos"/>
              </a:rPr>
              <a:t>Can’t generalize to other population</a:t>
            </a:r>
          </a:p>
          <a:p>
            <a:endParaRPr lang="en-US" spc="-1" dirty="0">
              <a:latin typeface="Aptos"/>
            </a:endParaRPr>
          </a:p>
          <a:p>
            <a:r>
              <a:rPr lang="en-US" spc="-1" dirty="0">
                <a:latin typeface="Aptos"/>
              </a:rPr>
              <a:t>But we can link some variables to diabetes progression, that could be established also from theories</a:t>
            </a:r>
            <a:endParaRPr lang="el-GR" spc="-1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88082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Εικόνα 4">
            <a:extLst>
              <a:ext uri="{FF2B5EF4-FFF2-40B4-BE49-F238E27FC236}">
                <a16:creationId xmlns:a16="http://schemas.microsoft.com/office/drawing/2014/main" id="{C14873C8-3F1A-4C58-CF71-6B9331C8261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9" name="CustomShape 3"/>
          <p:cNvSpPr/>
          <p:nvPr/>
        </p:nvSpPr>
        <p:spPr>
          <a:xfrm>
            <a:off x="3364972" y="159906"/>
            <a:ext cx="5462056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3200" b="0" strike="noStrike" spc="-1" dirty="0">
                <a:solidFill>
                  <a:srgbClr val="000000"/>
                </a:solidFill>
                <a:latin typeface="Tahoma"/>
                <a:ea typeface="Tahoma"/>
              </a:rPr>
              <a:t>Pre</a:t>
            </a:r>
            <a:r>
              <a:rPr lang="en-US" sz="3200" spc="-1" dirty="0">
                <a:solidFill>
                  <a:srgbClr val="000000"/>
                </a:solidFill>
                <a:latin typeface="Tahoma"/>
                <a:ea typeface="Tahoma"/>
              </a:rPr>
              <a:t>liminary Feature Selection</a:t>
            </a:r>
            <a:endParaRPr lang="el-GR" sz="3200" b="0" strike="noStrike" spc="-1" dirty="0">
              <a:latin typeface="Tahoma"/>
              <a:ea typeface="Tahoma"/>
            </a:endParaRPr>
          </a:p>
        </p:txBody>
      </p:sp>
      <p:sp>
        <p:nvSpPr>
          <p:cNvPr id="70" name="CustomShape 4"/>
          <p:cNvSpPr/>
          <p:nvPr/>
        </p:nvSpPr>
        <p:spPr>
          <a:xfrm>
            <a:off x="10501560" y="6404400"/>
            <a:ext cx="307969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1440" tIns="45720" rIns="91440" bIns="4572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1" dirty="0">
                <a:latin typeface="Aptos"/>
              </a:rPr>
              <a:t>3</a:t>
            </a:r>
            <a:endParaRPr lang="el-GR" sz="1800" b="0" strike="noStrike" spc="-1" dirty="0">
              <a:latin typeface="Aptos"/>
            </a:endParaRPr>
          </a:p>
        </p:txBody>
      </p:sp>
      <p:sp>
        <p:nvSpPr>
          <p:cNvPr id="10" name="CustomShape 6">
            <a:extLst>
              <a:ext uri="{FF2B5EF4-FFF2-40B4-BE49-F238E27FC236}">
                <a16:creationId xmlns:a16="http://schemas.microsoft.com/office/drawing/2014/main" id="{1D36C627-A235-3D12-0AF3-09C5A8B229E7}"/>
              </a:ext>
            </a:extLst>
          </p:cNvPr>
          <p:cNvSpPr/>
          <p:nvPr/>
        </p:nvSpPr>
        <p:spPr>
          <a:xfrm>
            <a:off x="433869" y="2071751"/>
            <a:ext cx="4359885" cy="12003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pc="-1" dirty="0">
                <a:latin typeface="Aptos"/>
              </a:rPr>
              <a:t>We found an early association of the </a:t>
            </a:r>
            <a:r>
              <a:rPr lang="en-US" b="1" spc="-1" dirty="0">
                <a:latin typeface="Aptos"/>
              </a:rPr>
              <a:t>BMI</a:t>
            </a:r>
            <a:r>
              <a:rPr lang="en-US" spc="-1" dirty="0">
                <a:latin typeface="Aptos"/>
              </a:rPr>
              <a:t>, </a:t>
            </a:r>
            <a:r>
              <a:rPr lang="en-US" b="1" spc="-1" dirty="0">
                <a:latin typeface="Aptos"/>
              </a:rPr>
              <a:t>S5</a:t>
            </a:r>
            <a:r>
              <a:rPr lang="en-US" spc="-1" dirty="0">
                <a:latin typeface="Aptos"/>
              </a:rPr>
              <a:t> measurement and </a:t>
            </a:r>
            <a:r>
              <a:rPr lang="en-US" b="1" spc="-1" dirty="0">
                <a:latin typeface="Aptos"/>
              </a:rPr>
              <a:t>BP</a:t>
            </a:r>
            <a:r>
              <a:rPr lang="en-US" spc="-1" dirty="0">
                <a:latin typeface="Aptos"/>
              </a:rPr>
              <a:t> as also other variables, but wasn’t so obvious to test them to our first models</a:t>
            </a:r>
            <a:endParaRPr lang="el-GR" spc="-1" dirty="0">
              <a:latin typeface="Aptos"/>
            </a:endParaRPr>
          </a:p>
        </p:txBody>
      </p:sp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3B459DF1-10F5-EEBF-5858-8099ACB92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934" y="1165703"/>
            <a:ext cx="4723003" cy="407299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Ορθογώνιο 15">
            <a:extLst>
              <a:ext uri="{FF2B5EF4-FFF2-40B4-BE49-F238E27FC236}">
                <a16:creationId xmlns:a16="http://schemas.microsoft.com/office/drawing/2014/main" id="{0B39C34D-FD3E-6EB4-FF0C-BD2EDD15B65C}"/>
              </a:ext>
            </a:extLst>
          </p:cNvPr>
          <p:cNvSpPr/>
          <p:nvPr/>
        </p:nvSpPr>
        <p:spPr>
          <a:xfrm>
            <a:off x="7877465" y="1276296"/>
            <a:ext cx="411129" cy="3323304"/>
          </a:xfrm>
          <a:prstGeom prst="rect">
            <a:avLst/>
          </a:prstGeom>
          <a:noFill/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18" name="Ευθύγραμμο βέλος σύνδεσης 17">
            <a:extLst>
              <a:ext uri="{FF2B5EF4-FFF2-40B4-BE49-F238E27FC236}">
                <a16:creationId xmlns:a16="http://schemas.microsoft.com/office/drawing/2014/main" id="{A3627EEC-45E9-CEA2-CA82-66838E57D25C}"/>
              </a:ext>
            </a:extLst>
          </p:cNvPr>
          <p:cNvCxnSpPr>
            <a:cxnSpLocks/>
          </p:cNvCxnSpPr>
          <p:nvPr/>
        </p:nvCxnSpPr>
        <p:spPr>
          <a:xfrm>
            <a:off x="8288594" y="2857885"/>
            <a:ext cx="144716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stomShape 6">
            <a:extLst>
              <a:ext uri="{FF2B5EF4-FFF2-40B4-BE49-F238E27FC236}">
                <a16:creationId xmlns:a16="http://schemas.microsoft.com/office/drawing/2014/main" id="{847E8321-7588-2D4A-F0E6-2F930829E7B1}"/>
              </a:ext>
            </a:extLst>
          </p:cNvPr>
          <p:cNvSpPr/>
          <p:nvPr/>
        </p:nvSpPr>
        <p:spPr>
          <a:xfrm>
            <a:off x="8550928" y="2436863"/>
            <a:ext cx="4359885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pc="-1" dirty="0">
                <a:latin typeface="Aptos"/>
              </a:rPr>
              <a:t>Darker orange, stronger association</a:t>
            </a:r>
            <a:endParaRPr lang="el-GR" spc="-1" dirty="0">
              <a:latin typeface="Aptos"/>
            </a:endParaRPr>
          </a:p>
        </p:txBody>
      </p:sp>
      <p:pic>
        <p:nvPicPr>
          <p:cNvPr id="30" name="Εικόνα 29">
            <a:extLst>
              <a:ext uri="{FF2B5EF4-FFF2-40B4-BE49-F238E27FC236}">
                <a16:creationId xmlns:a16="http://schemas.microsoft.com/office/drawing/2014/main" id="{8FBC6998-93B9-59B8-8491-88A074BB8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5320" y="5692297"/>
            <a:ext cx="6595876" cy="289056"/>
          </a:xfrm>
          <a:prstGeom prst="rect">
            <a:avLst/>
          </a:prstGeom>
        </p:spPr>
      </p:pic>
      <p:sp>
        <p:nvSpPr>
          <p:cNvPr id="32" name="Ορθογώνιο 31">
            <a:extLst>
              <a:ext uri="{FF2B5EF4-FFF2-40B4-BE49-F238E27FC236}">
                <a16:creationId xmlns:a16="http://schemas.microsoft.com/office/drawing/2014/main" id="{73DCDF46-C341-DF3F-013B-2E705E670F8A}"/>
              </a:ext>
            </a:extLst>
          </p:cNvPr>
          <p:cNvSpPr/>
          <p:nvPr/>
        </p:nvSpPr>
        <p:spPr>
          <a:xfrm>
            <a:off x="2300090" y="5533999"/>
            <a:ext cx="3235471" cy="609871"/>
          </a:xfrm>
          <a:prstGeom prst="rect">
            <a:avLst/>
          </a:prstGeom>
          <a:noFill/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3" name="Οβάλ 32">
            <a:extLst>
              <a:ext uri="{FF2B5EF4-FFF2-40B4-BE49-F238E27FC236}">
                <a16:creationId xmlns:a16="http://schemas.microsoft.com/office/drawing/2014/main" id="{612582E0-1FCD-35C5-B401-226522D285F3}"/>
              </a:ext>
            </a:extLst>
          </p:cNvPr>
          <p:cNvSpPr/>
          <p:nvPr/>
        </p:nvSpPr>
        <p:spPr>
          <a:xfrm>
            <a:off x="8550928" y="5532437"/>
            <a:ext cx="697241" cy="73905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5" name="CustomShape 6">
            <a:extLst>
              <a:ext uri="{FF2B5EF4-FFF2-40B4-BE49-F238E27FC236}">
                <a16:creationId xmlns:a16="http://schemas.microsoft.com/office/drawing/2014/main" id="{034FB5FE-A744-A78C-8E09-D8ED8E8879DA}"/>
              </a:ext>
            </a:extLst>
          </p:cNvPr>
          <p:cNvSpPr/>
          <p:nvPr/>
        </p:nvSpPr>
        <p:spPr>
          <a:xfrm>
            <a:off x="9431862" y="5463222"/>
            <a:ext cx="351427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3600" spc="-1" dirty="0">
                <a:solidFill>
                  <a:srgbClr val="FF0000"/>
                </a:solidFill>
                <a:latin typeface="Aptos"/>
              </a:rPr>
              <a:t>?</a:t>
            </a:r>
            <a:endParaRPr lang="el-GR" sz="3600" spc="-1" dirty="0">
              <a:solidFill>
                <a:srgbClr val="FF000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ED72-8B1B-EF29-9242-7EE534545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Εικόνα 2">
            <a:extLst>
              <a:ext uri="{FF2B5EF4-FFF2-40B4-BE49-F238E27FC236}">
                <a16:creationId xmlns:a16="http://schemas.microsoft.com/office/drawing/2014/main" id="{6066FF12-26F1-EC5A-1157-0C193EE598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9" name="CustomShape 3">
            <a:extLst>
              <a:ext uri="{FF2B5EF4-FFF2-40B4-BE49-F238E27FC236}">
                <a16:creationId xmlns:a16="http://schemas.microsoft.com/office/drawing/2014/main" id="{01BF3E32-8176-21B4-A47B-F4E11B2E0238}"/>
              </a:ext>
            </a:extLst>
          </p:cNvPr>
          <p:cNvSpPr/>
          <p:nvPr/>
        </p:nvSpPr>
        <p:spPr>
          <a:xfrm>
            <a:off x="5340525" y="58635"/>
            <a:ext cx="1510950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3200" b="0" strike="noStrike" spc="-1" dirty="0">
                <a:solidFill>
                  <a:srgbClr val="000000"/>
                </a:solidFill>
                <a:latin typeface="Tahoma"/>
                <a:ea typeface="Tahoma"/>
              </a:rPr>
              <a:t>Results</a:t>
            </a:r>
            <a:endParaRPr lang="el-GR" sz="3200" b="0" strike="noStrike" spc="-1" dirty="0">
              <a:latin typeface="Tahoma"/>
              <a:ea typeface="Tahoma"/>
            </a:endParaRPr>
          </a:p>
        </p:txBody>
      </p:sp>
      <p:sp>
        <p:nvSpPr>
          <p:cNvPr id="70" name="CustomShape 4">
            <a:extLst>
              <a:ext uri="{FF2B5EF4-FFF2-40B4-BE49-F238E27FC236}">
                <a16:creationId xmlns:a16="http://schemas.microsoft.com/office/drawing/2014/main" id="{39982A1E-DF98-1058-844F-1B426CBC1203}"/>
              </a:ext>
            </a:extLst>
          </p:cNvPr>
          <p:cNvSpPr/>
          <p:nvPr/>
        </p:nvSpPr>
        <p:spPr>
          <a:xfrm>
            <a:off x="10501560" y="6404400"/>
            <a:ext cx="307969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1440" tIns="45720" rIns="91440" bIns="4572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latin typeface="Aptos"/>
              </a:rPr>
              <a:t>4</a:t>
            </a:r>
            <a:endParaRPr lang="el-GR" sz="1800" b="0" strike="noStrike" spc="-1" dirty="0">
              <a:latin typeface="Aptos"/>
            </a:endParaRPr>
          </a:p>
        </p:txBody>
      </p:sp>
      <p:sp>
        <p:nvSpPr>
          <p:cNvPr id="5" name="AutoShape 2" descr="LG SIGNATURE OLED TV R: technology and design for an unprecedented object -  IFDM">
            <a:extLst>
              <a:ext uri="{FF2B5EF4-FFF2-40B4-BE49-F238E27FC236}">
                <a16:creationId xmlns:a16="http://schemas.microsoft.com/office/drawing/2014/main" id="{D73BE6E6-7D4A-5966-B786-EFB9419905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sp>
        <p:nvSpPr>
          <p:cNvPr id="12" name="CustomShape 6">
            <a:extLst>
              <a:ext uri="{FF2B5EF4-FFF2-40B4-BE49-F238E27FC236}">
                <a16:creationId xmlns:a16="http://schemas.microsoft.com/office/drawing/2014/main" id="{EA85C02B-7949-9D5B-B705-44DE60D75F9C}"/>
              </a:ext>
            </a:extLst>
          </p:cNvPr>
          <p:cNvSpPr/>
          <p:nvPr/>
        </p:nvSpPr>
        <p:spPr>
          <a:xfrm>
            <a:off x="1021215" y="967028"/>
            <a:ext cx="2390579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b="1" spc="-1" dirty="0">
                <a:latin typeface="Aptos"/>
              </a:rPr>
              <a:t>1</a:t>
            </a:r>
            <a:r>
              <a:rPr lang="en-US" b="1" spc="-1" baseline="30000" dirty="0">
                <a:latin typeface="Aptos"/>
              </a:rPr>
              <a:t>st</a:t>
            </a:r>
            <a:r>
              <a:rPr lang="en-US" b="1" spc="-1" dirty="0">
                <a:latin typeface="Aptos"/>
              </a:rPr>
              <a:t> Model (Only BMI):</a:t>
            </a:r>
          </a:p>
          <a:p>
            <a:endParaRPr lang="en-US" b="1" spc="-1" dirty="0">
              <a:latin typeface="Aptos"/>
            </a:endParaRP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DB0D1889-3A50-D7BC-E049-C45BA474A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69" y="1478821"/>
            <a:ext cx="2744540" cy="269073"/>
          </a:xfrm>
          <a:prstGeom prst="rect">
            <a:avLst/>
          </a:prstGeom>
        </p:spPr>
      </p:pic>
      <p:sp>
        <p:nvSpPr>
          <p:cNvPr id="10" name="CustomShape 6">
            <a:extLst>
              <a:ext uri="{FF2B5EF4-FFF2-40B4-BE49-F238E27FC236}">
                <a16:creationId xmlns:a16="http://schemas.microsoft.com/office/drawing/2014/main" id="{2BBCF9B8-3451-F6CF-14C9-21C4ED348F1A}"/>
              </a:ext>
            </a:extLst>
          </p:cNvPr>
          <p:cNvSpPr/>
          <p:nvPr/>
        </p:nvSpPr>
        <p:spPr>
          <a:xfrm>
            <a:off x="1021215" y="2368125"/>
            <a:ext cx="2904494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b="1" spc="-1" dirty="0">
                <a:latin typeface="Aptos"/>
              </a:rPr>
              <a:t>2</a:t>
            </a:r>
            <a:r>
              <a:rPr lang="en-US" b="1" spc="-1" baseline="30000" dirty="0">
                <a:latin typeface="Aptos"/>
              </a:rPr>
              <a:t>nd</a:t>
            </a:r>
            <a:r>
              <a:rPr lang="en-US" b="1" spc="-1" dirty="0">
                <a:latin typeface="Aptos"/>
              </a:rPr>
              <a:t>  Model (BMI + BP + S5):</a:t>
            </a:r>
          </a:p>
          <a:p>
            <a:endParaRPr lang="en-US" b="1" spc="-1" dirty="0">
              <a:latin typeface="Aptos"/>
            </a:endParaRPr>
          </a:p>
        </p:txBody>
      </p:sp>
      <p:cxnSp>
        <p:nvCxnSpPr>
          <p:cNvPr id="14" name="Ευθύγραμμο βέλος σύνδεσης 13">
            <a:extLst>
              <a:ext uri="{FF2B5EF4-FFF2-40B4-BE49-F238E27FC236}">
                <a16:creationId xmlns:a16="http://schemas.microsoft.com/office/drawing/2014/main" id="{7A990E5B-F6FF-0E81-E1EE-80C317EA205E}"/>
              </a:ext>
            </a:extLst>
          </p:cNvPr>
          <p:cNvCxnSpPr>
            <a:cxnSpLocks/>
          </p:cNvCxnSpPr>
          <p:nvPr/>
        </p:nvCxnSpPr>
        <p:spPr>
          <a:xfrm>
            <a:off x="3925709" y="1600225"/>
            <a:ext cx="144716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stomShape 6">
            <a:extLst>
              <a:ext uri="{FF2B5EF4-FFF2-40B4-BE49-F238E27FC236}">
                <a16:creationId xmlns:a16="http://schemas.microsoft.com/office/drawing/2014/main" id="{1CA5DAD6-C9F4-1E7E-3AE2-1838C49C65C3}"/>
              </a:ext>
            </a:extLst>
          </p:cNvPr>
          <p:cNvSpPr/>
          <p:nvPr/>
        </p:nvSpPr>
        <p:spPr>
          <a:xfrm>
            <a:off x="5483263" y="1312213"/>
            <a:ext cx="4359885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pc="-1" dirty="0">
                <a:latin typeface="Aptos"/>
              </a:rPr>
              <a:t>For every 1 increasing unit in BMI, 10.233 increase diabetes progression score</a:t>
            </a:r>
            <a:endParaRPr lang="el-GR" spc="-1" dirty="0">
              <a:latin typeface="Aptos"/>
            </a:endParaRPr>
          </a:p>
        </p:txBody>
      </p:sp>
      <p:pic>
        <p:nvPicPr>
          <p:cNvPr id="18" name="Εικόνα 17">
            <a:extLst>
              <a:ext uri="{FF2B5EF4-FFF2-40B4-BE49-F238E27FC236}">
                <a16:creationId xmlns:a16="http://schemas.microsoft.com/office/drawing/2014/main" id="{BFE2998D-70D1-196D-ABBF-79C9BD0F4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501" y="2852795"/>
            <a:ext cx="2220776" cy="1101287"/>
          </a:xfrm>
          <a:prstGeom prst="rect">
            <a:avLst/>
          </a:prstGeom>
        </p:spPr>
      </p:pic>
      <p:cxnSp>
        <p:nvCxnSpPr>
          <p:cNvPr id="19" name="Ευθύγραμμο βέλος σύνδεσης 18">
            <a:extLst>
              <a:ext uri="{FF2B5EF4-FFF2-40B4-BE49-F238E27FC236}">
                <a16:creationId xmlns:a16="http://schemas.microsoft.com/office/drawing/2014/main" id="{21932685-6E79-9C0B-70BF-377284C1A948}"/>
              </a:ext>
            </a:extLst>
          </p:cNvPr>
          <p:cNvCxnSpPr>
            <a:cxnSpLocks/>
          </p:cNvCxnSpPr>
          <p:nvPr/>
        </p:nvCxnSpPr>
        <p:spPr>
          <a:xfrm>
            <a:off x="3559277" y="3429000"/>
            <a:ext cx="144716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stomShape 6">
            <a:extLst>
              <a:ext uri="{FF2B5EF4-FFF2-40B4-BE49-F238E27FC236}">
                <a16:creationId xmlns:a16="http://schemas.microsoft.com/office/drawing/2014/main" id="{5C08307B-54A1-D10A-2AE2-F25A613555DE}"/>
              </a:ext>
            </a:extLst>
          </p:cNvPr>
          <p:cNvSpPr/>
          <p:nvPr/>
        </p:nvSpPr>
        <p:spPr>
          <a:xfrm>
            <a:off x="5047278" y="2551837"/>
            <a:ext cx="4359885" cy="17543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pc="-1" dirty="0">
                <a:latin typeface="Aptos"/>
              </a:rPr>
              <a:t>For every 1 increasing unit in BMI, 6.5 increase diabetes progression score</a:t>
            </a:r>
          </a:p>
          <a:p>
            <a:r>
              <a:rPr lang="en-US" spc="-1" dirty="0">
                <a:latin typeface="Aptos"/>
              </a:rPr>
              <a:t>For every 1 unit in BP, only 0.9 increase in the score (low effect proved)</a:t>
            </a:r>
          </a:p>
          <a:p>
            <a:r>
              <a:rPr lang="en-US" spc="-1" dirty="0">
                <a:latin typeface="Aptos"/>
              </a:rPr>
              <a:t>For every 1 unit in S5, 49.577! Proved S5 Strong Effect</a:t>
            </a:r>
            <a:endParaRPr lang="el-GR" spc="-1" dirty="0">
              <a:latin typeface="Aptos"/>
            </a:endParaRPr>
          </a:p>
        </p:txBody>
      </p:sp>
      <p:sp>
        <p:nvSpPr>
          <p:cNvPr id="23" name="CustomShape 6">
            <a:extLst>
              <a:ext uri="{FF2B5EF4-FFF2-40B4-BE49-F238E27FC236}">
                <a16:creationId xmlns:a16="http://schemas.microsoft.com/office/drawing/2014/main" id="{BB135FB0-F677-E5B1-8DDA-A6BCA0FBAD57}"/>
              </a:ext>
            </a:extLst>
          </p:cNvPr>
          <p:cNvSpPr/>
          <p:nvPr/>
        </p:nvSpPr>
        <p:spPr>
          <a:xfrm>
            <a:off x="996642" y="4251342"/>
            <a:ext cx="2904494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b="1" spc="-1" dirty="0">
                <a:latin typeface="Aptos"/>
              </a:rPr>
              <a:t>3</a:t>
            </a:r>
            <a:r>
              <a:rPr lang="en-US" b="1" spc="-1" baseline="30000" dirty="0">
                <a:latin typeface="Aptos"/>
              </a:rPr>
              <a:t>rd</a:t>
            </a:r>
            <a:r>
              <a:rPr lang="en-US" b="1" spc="-1" dirty="0">
                <a:latin typeface="Aptos"/>
              </a:rPr>
              <a:t>  Model (BMI + BP + S5):</a:t>
            </a:r>
          </a:p>
          <a:p>
            <a:endParaRPr lang="en-US" b="1" spc="-1" dirty="0">
              <a:latin typeface="Aptos"/>
            </a:endParaRPr>
          </a:p>
        </p:txBody>
      </p:sp>
      <p:cxnSp>
        <p:nvCxnSpPr>
          <p:cNvPr id="25" name="Ευθεία γραμμή σύνδεσης 24">
            <a:extLst>
              <a:ext uri="{FF2B5EF4-FFF2-40B4-BE49-F238E27FC236}">
                <a16:creationId xmlns:a16="http://schemas.microsoft.com/office/drawing/2014/main" id="{0DC004AA-4E06-A22D-7FB3-C54A282EB427}"/>
              </a:ext>
            </a:extLst>
          </p:cNvPr>
          <p:cNvCxnSpPr/>
          <p:nvPr/>
        </p:nvCxnSpPr>
        <p:spPr>
          <a:xfrm>
            <a:off x="2664542" y="4188542"/>
            <a:ext cx="452284" cy="3637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Ευθεία γραμμή σύνδεσης 26">
            <a:extLst>
              <a:ext uri="{FF2B5EF4-FFF2-40B4-BE49-F238E27FC236}">
                <a16:creationId xmlns:a16="http://schemas.microsoft.com/office/drawing/2014/main" id="{DDF52DED-3857-38A4-E4BB-D6E65152FC9C}"/>
              </a:ext>
            </a:extLst>
          </p:cNvPr>
          <p:cNvCxnSpPr/>
          <p:nvPr/>
        </p:nvCxnSpPr>
        <p:spPr>
          <a:xfrm flipH="1">
            <a:off x="2772697" y="4251342"/>
            <a:ext cx="344129" cy="323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9" name="Εικόνα 28">
            <a:extLst>
              <a:ext uri="{FF2B5EF4-FFF2-40B4-BE49-F238E27FC236}">
                <a16:creationId xmlns:a16="http://schemas.microsoft.com/office/drawing/2014/main" id="{98B29CD9-6E4C-3456-F9E2-F2FD0026C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69" y="4728345"/>
            <a:ext cx="2344212" cy="644658"/>
          </a:xfrm>
          <a:prstGeom prst="rect">
            <a:avLst/>
          </a:prstGeom>
        </p:spPr>
      </p:pic>
      <p:cxnSp>
        <p:nvCxnSpPr>
          <p:cNvPr id="30" name="Ευθύγραμμο βέλος σύνδεσης 29">
            <a:extLst>
              <a:ext uri="{FF2B5EF4-FFF2-40B4-BE49-F238E27FC236}">
                <a16:creationId xmlns:a16="http://schemas.microsoft.com/office/drawing/2014/main" id="{5BB34B25-2853-473A-4180-0E72FB974B00}"/>
              </a:ext>
            </a:extLst>
          </p:cNvPr>
          <p:cNvCxnSpPr>
            <a:cxnSpLocks/>
          </p:cNvCxnSpPr>
          <p:nvPr/>
        </p:nvCxnSpPr>
        <p:spPr>
          <a:xfrm>
            <a:off x="3525381" y="5053132"/>
            <a:ext cx="144716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stomShape 6">
            <a:extLst>
              <a:ext uri="{FF2B5EF4-FFF2-40B4-BE49-F238E27FC236}">
                <a16:creationId xmlns:a16="http://schemas.microsoft.com/office/drawing/2014/main" id="{61DA21B7-CBA7-BD2C-0136-47FF7910DBB0}"/>
              </a:ext>
            </a:extLst>
          </p:cNvPr>
          <p:cNvSpPr/>
          <p:nvPr/>
        </p:nvSpPr>
        <p:spPr>
          <a:xfrm>
            <a:off x="4972549" y="4720707"/>
            <a:ext cx="4359885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pc="-1" dirty="0">
                <a:latin typeface="Aptos"/>
              </a:rPr>
              <a:t>Approximately same results, bp really didn’t have strong effect!</a:t>
            </a:r>
            <a:endParaRPr lang="el-GR" spc="-1" dirty="0">
              <a:latin typeface="Aptos"/>
            </a:endParaRPr>
          </a:p>
        </p:txBody>
      </p:sp>
      <p:sp>
        <p:nvSpPr>
          <p:cNvPr id="34" name="CustomShape 6">
            <a:extLst>
              <a:ext uri="{FF2B5EF4-FFF2-40B4-BE49-F238E27FC236}">
                <a16:creationId xmlns:a16="http://schemas.microsoft.com/office/drawing/2014/main" id="{3A1833B9-9D8F-0C5C-9F55-AFB6C8E7C40F}"/>
              </a:ext>
            </a:extLst>
          </p:cNvPr>
          <p:cNvSpPr/>
          <p:nvPr/>
        </p:nvSpPr>
        <p:spPr>
          <a:xfrm>
            <a:off x="996642" y="5525081"/>
            <a:ext cx="2904494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b="1" spc="-1" dirty="0">
                <a:latin typeface="Aptos"/>
              </a:rPr>
              <a:t>4</a:t>
            </a:r>
            <a:r>
              <a:rPr lang="en-US" b="1" spc="-1" baseline="30000" dirty="0">
                <a:latin typeface="Aptos"/>
              </a:rPr>
              <a:t>th</a:t>
            </a:r>
            <a:r>
              <a:rPr lang="en-US" b="1" spc="-1" dirty="0">
                <a:latin typeface="Aptos"/>
              </a:rPr>
              <a:t>  Model (BMI + Age+ S5):</a:t>
            </a:r>
          </a:p>
          <a:p>
            <a:endParaRPr lang="en-US" b="1" spc="-1" dirty="0">
              <a:latin typeface="Aptos"/>
            </a:endParaRPr>
          </a:p>
        </p:txBody>
      </p:sp>
      <p:pic>
        <p:nvPicPr>
          <p:cNvPr id="36" name="Εικόνα 35">
            <a:extLst>
              <a:ext uri="{FF2B5EF4-FFF2-40B4-BE49-F238E27FC236}">
                <a16:creationId xmlns:a16="http://schemas.microsoft.com/office/drawing/2014/main" id="{9B9B9AA9-D44C-2338-C1F1-B09CED9795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8501" y="5904460"/>
            <a:ext cx="1935657" cy="830720"/>
          </a:xfrm>
          <a:prstGeom prst="rect">
            <a:avLst/>
          </a:prstGeom>
        </p:spPr>
      </p:pic>
      <p:cxnSp>
        <p:nvCxnSpPr>
          <p:cNvPr id="37" name="Ευθύγραμμο βέλος σύνδεσης 36">
            <a:extLst>
              <a:ext uri="{FF2B5EF4-FFF2-40B4-BE49-F238E27FC236}">
                <a16:creationId xmlns:a16="http://schemas.microsoft.com/office/drawing/2014/main" id="{2A99C079-F20C-9E9B-EFDC-9C5CE4E0CECD}"/>
              </a:ext>
            </a:extLst>
          </p:cNvPr>
          <p:cNvCxnSpPr>
            <a:cxnSpLocks/>
          </p:cNvCxnSpPr>
          <p:nvPr/>
        </p:nvCxnSpPr>
        <p:spPr>
          <a:xfrm>
            <a:off x="3274158" y="6404400"/>
            <a:ext cx="144716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stomShape 6">
            <a:extLst>
              <a:ext uri="{FF2B5EF4-FFF2-40B4-BE49-F238E27FC236}">
                <a16:creationId xmlns:a16="http://schemas.microsoft.com/office/drawing/2014/main" id="{4BF5B798-B9A9-0396-49A8-45C9D5D873E1}"/>
              </a:ext>
            </a:extLst>
          </p:cNvPr>
          <p:cNvSpPr/>
          <p:nvPr/>
        </p:nvSpPr>
        <p:spPr>
          <a:xfrm>
            <a:off x="4783785" y="6023454"/>
            <a:ext cx="4359885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pc="-1" dirty="0">
                <a:latin typeface="Aptos"/>
              </a:rPr>
              <a:t>Age, also very weak effect, despite our intuitions</a:t>
            </a:r>
            <a:endParaRPr lang="el-GR" spc="-1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89800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73022-F4CD-40F0-3BBE-0E7086A62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Εικόνα 2">
            <a:extLst>
              <a:ext uri="{FF2B5EF4-FFF2-40B4-BE49-F238E27FC236}">
                <a16:creationId xmlns:a16="http://schemas.microsoft.com/office/drawing/2014/main" id="{0EDF3405-0ED7-3328-E7FB-5721FBA5AF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9" name="CustomShape 3">
            <a:extLst>
              <a:ext uri="{FF2B5EF4-FFF2-40B4-BE49-F238E27FC236}">
                <a16:creationId xmlns:a16="http://schemas.microsoft.com/office/drawing/2014/main" id="{7A7B3FFD-40BB-01E1-7D6C-51F0139BFDC5}"/>
              </a:ext>
            </a:extLst>
          </p:cNvPr>
          <p:cNvSpPr/>
          <p:nvPr/>
        </p:nvSpPr>
        <p:spPr>
          <a:xfrm>
            <a:off x="4755505" y="75722"/>
            <a:ext cx="2376189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3200" spc="-1" dirty="0">
                <a:solidFill>
                  <a:srgbClr val="000000"/>
                </a:solidFill>
                <a:latin typeface="Tahoma"/>
                <a:ea typeface="Tahoma"/>
              </a:rPr>
              <a:t>Conclusions</a:t>
            </a:r>
            <a:endParaRPr lang="el-GR" sz="3200" b="0" strike="noStrike" spc="-1" dirty="0">
              <a:latin typeface="Tahoma"/>
              <a:ea typeface="Tahoma"/>
            </a:endParaRPr>
          </a:p>
        </p:txBody>
      </p:sp>
      <p:sp>
        <p:nvSpPr>
          <p:cNvPr id="70" name="CustomShape 4">
            <a:extLst>
              <a:ext uri="{FF2B5EF4-FFF2-40B4-BE49-F238E27FC236}">
                <a16:creationId xmlns:a16="http://schemas.microsoft.com/office/drawing/2014/main" id="{08520224-7A43-C99D-9047-D3D9C783506D}"/>
              </a:ext>
            </a:extLst>
          </p:cNvPr>
          <p:cNvSpPr/>
          <p:nvPr/>
        </p:nvSpPr>
        <p:spPr>
          <a:xfrm>
            <a:off x="10501560" y="6404400"/>
            <a:ext cx="307969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1440" tIns="45720" rIns="91440" bIns="4572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latin typeface="Aptos"/>
              </a:rPr>
              <a:t>5</a:t>
            </a:r>
            <a:endParaRPr lang="el-GR" sz="1800" b="0" strike="noStrike" spc="-1" dirty="0">
              <a:latin typeface="Aptos"/>
            </a:endParaRPr>
          </a:p>
        </p:txBody>
      </p:sp>
      <p:sp>
        <p:nvSpPr>
          <p:cNvPr id="5" name="AutoShape 2" descr="LG SIGNATURE OLED TV R: technology and design for an unprecedented object -  IFDM">
            <a:extLst>
              <a:ext uri="{FF2B5EF4-FFF2-40B4-BE49-F238E27FC236}">
                <a16:creationId xmlns:a16="http://schemas.microsoft.com/office/drawing/2014/main" id="{BCAA15C6-198A-5393-7AAF-BA27510858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sp>
        <p:nvSpPr>
          <p:cNvPr id="11" name="CustomShape 6">
            <a:extLst>
              <a:ext uri="{FF2B5EF4-FFF2-40B4-BE49-F238E27FC236}">
                <a16:creationId xmlns:a16="http://schemas.microsoft.com/office/drawing/2014/main" id="{84C472BC-CD62-3ACE-CE04-D55131899365}"/>
              </a:ext>
            </a:extLst>
          </p:cNvPr>
          <p:cNvSpPr/>
          <p:nvPr/>
        </p:nvSpPr>
        <p:spPr>
          <a:xfrm>
            <a:off x="1354893" y="2478315"/>
            <a:ext cx="4062681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600" b="1" spc="-1" dirty="0">
                <a:latin typeface="Aptos"/>
              </a:rPr>
              <a:t>BMI and S5 Measurements seem to be associated with the progressions of the Diabetes </a:t>
            </a:r>
          </a:p>
        </p:txBody>
      </p:sp>
      <p:cxnSp>
        <p:nvCxnSpPr>
          <p:cNvPr id="7" name="Ευθύγραμμο βέλος σύνδεσης 6">
            <a:extLst>
              <a:ext uri="{FF2B5EF4-FFF2-40B4-BE49-F238E27FC236}">
                <a16:creationId xmlns:a16="http://schemas.microsoft.com/office/drawing/2014/main" id="{B09BA071-348A-0042-3B0F-94A89A9B7F62}"/>
              </a:ext>
            </a:extLst>
          </p:cNvPr>
          <p:cNvCxnSpPr>
            <a:cxnSpLocks/>
          </p:cNvCxnSpPr>
          <p:nvPr/>
        </p:nvCxnSpPr>
        <p:spPr>
          <a:xfrm flipH="1" flipV="1">
            <a:off x="8462458" y="1825993"/>
            <a:ext cx="423612" cy="4491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Ομάδα 15">
            <a:extLst>
              <a:ext uri="{FF2B5EF4-FFF2-40B4-BE49-F238E27FC236}">
                <a16:creationId xmlns:a16="http://schemas.microsoft.com/office/drawing/2014/main" id="{834B8537-7C0A-D80B-EF63-C1F864E8361E}"/>
              </a:ext>
            </a:extLst>
          </p:cNvPr>
          <p:cNvGrpSpPr/>
          <p:nvPr/>
        </p:nvGrpSpPr>
        <p:grpSpPr>
          <a:xfrm>
            <a:off x="3195183" y="1550763"/>
            <a:ext cx="396260" cy="448849"/>
            <a:chOff x="3543357" y="1408118"/>
            <a:chExt cx="396260" cy="448849"/>
          </a:xfrm>
        </p:grpSpPr>
        <p:cxnSp>
          <p:nvCxnSpPr>
            <p:cNvPr id="14" name="Ευθύγραμμο βέλος σύνδεσης 13">
              <a:extLst>
                <a:ext uri="{FF2B5EF4-FFF2-40B4-BE49-F238E27FC236}">
                  <a16:creationId xmlns:a16="http://schemas.microsoft.com/office/drawing/2014/main" id="{DCD747FA-4665-AFA5-BD82-675062F342CF}"/>
                </a:ext>
              </a:extLst>
            </p:cNvPr>
            <p:cNvCxnSpPr>
              <a:cxnSpLocks/>
            </p:cNvCxnSpPr>
            <p:nvPr/>
          </p:nvCxnSpPr>
          <p:spPr>
            <a:xfrm>
              <a:off x="3736269" y="1408118"/>
              <a:ext cx="10438" cy="448849"/>
            </a:xfrm>
            <a:prstGeom prst="straightConnector1">
              <a:avLst/>
            </a:prstGeom>
            <a:ln w="571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Ευθύγραμμο βέλος σύνδεσης 14">
              <a:extLst>
                <a:ext uri="{FF2B5EF4-FFF2-40B4-BE49-F238E27FC236}">
                  <a16:creationId xmlns:a16="http://schemas.microsoft.com/office/drawing/2014/main" id="{37C0BEE5-D5A9-79B8-C6C7-9ED0874D4F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3357" y="1635120"/>
              <a:ext cx="396260" cy="4491"/>
            </a:xfrm>
            <a:prstGeom prst="straightConnector1">
              <a:avLst/>
            </a:prstGeom>
            <a:ln w="571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CustomShape 6">
            <a:extLst>
              <a:ext uri="{FF2B5EF4-FFF2-40B4-BE49-F238E27FC236}">
                <a16:creationId xmlns:a16="http://schemas.microsoft.com/office/drawing/2014/main" id="{BC502DCE-717D-FCD0-FA6B-F24E2A024CA2}"/>
              </a:ext>
            </a:extLst>
          </p:cNvPr>
          <p:cNvSpPr/>
          <p:nvPr/>
        </p:nvSpPr>
        <p:spPr>
          <a:xfrm>
            <a:off x="6821628" y="2478314"/>
            <a:ext cx="4062681" cy="18158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600" b="1" spc="-1" dirty="0">
                <a:latin typeface="Aptos"/>
              </a:rPr>
              <a:t>BP and Age! Don’t have strong effect, despite our intuitions that older people are more prone to diabetes</a:t>
            </a:r>
          </a:p>
          <a:p>
            <a:endParaRPr lang="en-US" sz="1600" b="1" spc="-1" dirty="0">
              <a:latin typeface="Aptos"/>
            </a:endParaRPr>
          </a:p>
          <a:p>
            <a:r>
              <a:rPr lang="en-US" sz="1600" b="1" spc="-1" dirty="0">
                <a:latin typeface="Aptos"/>
              </a:rPr>
              <a:t>BUT small dataset and also age could be linked through different measurements indirectly to the progression</a:t>
            </a:r>
          </a:p>
        </p:txBody>
      </p: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A5AE3E1F-3F23-077D-F11A-5F60D8982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661" y="4401373"/>
            <a:ext cx="2322372" cy="20030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Ευθύγραμμο βέλος σύνδεσης 12">
            <a:extLst>
              <a:ext uri="{FF2B5EF4-FFF2-40B4-BE49-F238E27FC236}">
                <a16:creationId xmlns:a16="http://schemas.microsoft.com/office/drawing/2014/main" id="{32077A5E-1D81-5890-DBB3-C306BFDB50E8}"/>
              </a:ext>
            </a:extLst>
          </p:cNvPr>
          <p:cNvCxnSpPr>
            <a:cxnSpLocks/>
          </p:cNvCxnSpPr>
          <p:nvPr/>
        </p:nvCxnSpPr>
        <p:spPr>
          <a:xfrm>
            <a:off x="4277033" y="5414272"/>
            <a:ext cx="144716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stomShape 6">
            <a:extLst>
              <a:ext uri="{FF2B5EF4-FFF2-40B4-BE49-F238E27FC236}">
                <a16:creationId xmlns:a16="http://schemas.microsoft.com/office/drawing/2014/main" id="{015C7897-2D6F-C717-1963-8891DD68375D}"/>
              </a:ext>
            </a:extLst>
          </p:cNvPr>
          <p:cNvSpPr/>
          <p:nvPr/>
        </p:nvSpPr>
        <p:spPr>
          <a:xfrm>
            <a:off x="5883628" y="5121884"/>
            <a:ext cx="4062681" cy="13234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600" b="1" spc="-1" dirty="0">
                <a:latin typeface="Aptos"/>
              </a:rPr>
              <a:t>This cluster could be further studies for non-linear effects, as the residuals in many cases of real values and the model are far away from the optimal zero, or a constant </a:t>
            </a:r>
            <a:r>
              <a:rPr lang="en-US" sz="1600" b="1" spc="-1" dirty="0" err="1">
                <a:latin typeface="Aptos"/>
              </a:rPr>
              <a:t>behaviour</a:t>
            </a:r>
            <a:endParaRPr lang="en-US" sz="1600" b="1" spc="-1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77300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06397-B776-9676-5D93-26AFE8EB6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Εικόνα 2">
            <a:extLst>
              <a:ext uri="{FF2B5EF4-FFF2-40B4-BE49-F238E27FC236}">
                <a16:creationId xmlns:a16="http://schemas.microsoft.com/office/drawing/2014/main" id="{8125ED3E-00D2-82EC-7374-C1CECB6F5EC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AutoShape 2" descr="LG SIGNATURE OLED TV R: technology and design for an unprecedented object -  IFDM">
            <a:extLst>
              <a:ext uri="{FF2B5EF4-FFF2-40B4-BE49-F238E27FC236}">
                <a16:creationId xmlns:a16="http://schemas.microsoft.com/office/drawing/2014/main" id="{3A608393-B917-434F-5512-FA81B37584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sp>
        <p:nvSpPr>
          <p:cNvPr id="8" name="CustomShape 4">
            <a:extLst>
              <a:ext uri="{FF2B5EF4-FFF2-40B4-BE49-F238E27FC236}">
                <a16:creationId xmlns:a16="http://schemas.microsoft.com/office/drawing/2014/main" id="{F13DCAF2-FB94-D28F-9978-29E73C39212B}"/>
              </a:ext>
            </a:extLst>
          </p:cNvPr>
          <p:cNvSpPr/>
          <p:nvPr/>
        </p:nvSpPr>
        <p:spPr>
          <a:xfrm>
            <a:off x="10501560" y="6404400"/>
            <a:ext cx="307969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1440" tIns="45720" rIns="91440" bIns="4572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1" dirty="0">
                <a:latin typeface="Aptos"/>
              </a:rPr>
              <a:t>6</a:t>
            </a:r>
            <a:endParaRPr lang="el-GR" spc="-1" dirty="0">
              <a:latin typeface="Aptos"/>
            </a:endParaRPr>
          </a:p>
        </p:txBody>
      </p:sp>
      <p:sp>
        <p:nvSpPr>
          <p:cNvPr id="11" name="CustomShape 4">
            <a:extLst>
              <a:ext uri="{FF2B5EF4-FFF2-40B4-BE49-F238E27FC236}">
                <a16:creationId xmlns:a16="http://schemas.microsoft.com/office/drawing/2014/main" id="{0BA8FDA9-45BC-EC28-BD55-3ED210E666A8}"/>
              </a:ext>
            </a:extLst>
          </p:cNvPr>
          <p:cNvSpPr/>
          <p:nvPr/>
        </p:nvSpPr>
        <p:spPr>
          <a:xfrm>
            <a:off x="393120" y="2585801"/>
            <a:ext cx="11100959" cy="13815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400" dirty="0"/>
              <a:t>Data Source:</a:t>
            </a:r>
            <a:endParaRPr lang="el-GR" sz="4400" dirty="0"/>
          </a:p>
          <a:p>
            <a:pPr algn="ctr"/>
            <a:r>
              <a:rPr lang="en-US" sz="2400" dirty="0">
                <a:hlinkClick r:id="rId3"/>
              </a:rPr>
              <a:t> https://www4.stat.ncsu.edu/~boos/var.select/diabetes.tab.txt </a:t>
            </a:r>
            <a:endParaRPr lang="en-US" sz="1600" dirty="0">
              <a:solidFill>
                <a:srgbClr val="222222"/>
              </a:solidFill>
              <a:cs typeface="Arial"/>
            </a:endParaRPr>
          </a:p>
          <a:p>
            <a:pPr>
              <a:lnSpc>
                <a:spcPct val="150000"/>
              </a:lnSpc>
            </a:pP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461386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391AF-7F81-A336-595A-D78BAF004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Εικόνα 3">
            <a:extLst>
              <a:ext uri="{FF2B5EF4-FFF2-40B4-BE49-F238E27FC236}">
                <a16:creationId xmlns:a16="http://schemas.microsoft.com/office/drawing/2014/main" id="{3433FEF3-E29F-6E0B-2465-17585FBED4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stomShape 3">
            <a:extLst>
              <a:ext uri="{FF2B5EF4-FFF2-40B4-BE49-F238E27FC236}">
                <a16:creationId xmlns:a16="http://schemas.microsoft.com/office/drawing/2014/main" id="{252B0301-2A0C-6A5E-6BB1-EE3417E8452B}"/>
              </a:ext>
            </a:extLst>
          </p:cNvPr>
          <p:cNvSpPr/>
          <p:nvPr/>
        </p:nvSpPr>
        <p:spPr>
          <a:xfrm>
            <a:off x="4102920" y="2705760"/>
            <a:ext cx="3981600" cy="143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l-GR" sz="4400" b="0" strike="noStrike" spc="-1">
                <a:solidFill>
                  <a:srgbClr val="000000"/>
                </a:solidFill>
                <a:latin typeface="Tahoma"/>
                <a:ea typeface="Tahoma"/>
              </a:rPr>
              <a:t>Thank you!</a:t>
            </a:r>
            <a:endParaRPr lang="el-GR" sz="4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l-GR" sz="4400" b="0" strike="noStrike" spc="-1">
                <a:solidFill>
                  <a:srgbClr val="000000"/>
                </a:solidFill>
                <a:latin typeface="Tahoma"/>
                <a:ea typeface="Tahoma"/>
              </a:rPr>
              <a:t>Any Questions?</a:t>
            </a:r>
            <a:endParaRPr lang="el-GR" sz="4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3554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5967</TotalTime>
  <Words>340</Words>
  <Application>Microsoft Office PowerPoint</Application>
  <PresentationFormat>Ευρεία οθόνη</PresentationFormat>
  <Paragraphs>42</Paragraphs>
  <Slides>7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7</vt:i4>
      </vt:variant>
      <vt:variant>
        <vt:lpstr>Θέμα</vt:lpstr>
      </vt:variant>
      <vt:variant>
        <vt:i4>2</vt:i4>
      </vt:variant>
      <vt:variant>
        <vt:lpstr>Τίτλοι διαφανειών</vt:lpstr>
      </vt:variant>
      <vt:variant>
        <vt:i4>7</vt:i4>
      </vt:variant>
    </vt:vector>
  </HeadingPairs>
  <TitlesOfParts>
    <vt:vector size="16" baseType="lpstr">
      <vt:lpstr>Aptos</vt:lpstr>
      <vt:lpstr>Arial</vt:lpstr>
      <vt:lpstr>Cambria Math</vt:lpstr>
      <vt:lpstr>Symbol</vt:lpstr>
      <vt:lpstr>Tahoma</vt:lpstr>
      <vt:lpstr>Times New Roman</vt:lpstr>
      <vt:lpstr>Wingdings</vt:lpstr>
      <vt:lpstr>Office Theme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Jim Tiko</dc:creator>
  <dc:description/>
  <cp:lastModifiedBy>Dimitrios Pouliakis</cp:lastModifiedBy>
  <cp:revision>4133</cp:revision>
  <dcterms:created xsi:type="dcterms:W3CDTF">2024-10-05T11:50:04Z</dcterms:created>
  <dcterms:modified xsi:type="dcterms:W3CDTF">2026-10-26T21:39:54Z</dcterms:modified>
  <dc:language>el-GR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3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Ευρεία οθόνη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32</vt:i4>
  </property>
</Properties>
</file>